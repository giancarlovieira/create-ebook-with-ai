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7" r:id="rId2"/>
    <p:sldId id="263" r:id="rId3"/>
    <p:sldId id="264" r:id="rId4"/>
    <p:sldId id="265" r:id="rId5"/>
    <p:sldId id="261" r:id="rId6"/>
    <p:sldId id="285" r:id="rId7"/>
    <p:sldId id="262" r:id="rId8"/>
    <p:sldId id="269" r:id="rId9"/>
    <p:sldId id="271" r:id="rId10"/>
    <p:sldId id="273" r:id="rId11"/>
    <p:sldId id="272" r:id="rId12"/>
    <p:sldId id="275" r:id="rId13"/>
    <p:sldId id="277" r:id="rId14"/>
    <p:sldId id="279" r:id="rId15"/>
    <p:sldId id="280" r:id="rId16"/>
    <p:sldId id="284" r:id="rId17"/>
    <p:sldId id="283" r:id="rId18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D28"/>
    <a:srgbClr val="293E43"/>
    <a:srgbClr val="273C41"/>
    <a:srgbClr val="11FFFE"/>
    <a:srgbClr val="36ABFF"/>
    <a:srgbClr val="0D0A27"/>
    <a:srgbClr val="37ABFF"/>
    <a:srgbClr val="F1FEFE"/>
    <a:srgbClr val="85A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5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2597" y="62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8B089FE-5646-9CF7-A0CD-D9371092F7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ADF765-FF2C-6672-30DF-4E02B0FCB8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237D1-EB3E-42ED-8017-A3E0F540A544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EF68CF-250A-55FC-E1E4-D9C6F5A555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2F9274-313E-B987-AB97-907ACC11A2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93A92-22D6-4927-AF67-7D3B866A4AC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333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E0544-B9E7-47A8-ABD7-B3CFDECA6595}" type="datetimeFigureOut">
              <a:rPr lang="pt-BR" smtClean="0"/>
              <a:t>06/05/2024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A01F6-44E6-448B-9319-3BC869F75E0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81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E23B-00AE-4063-B768-42F5C62969D0}" type="datetime1">
              <a:rPr lang="pt-BR" smtClean="0"/>
              <a:t>06/05/2024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4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CF73-9D2A-422A-A6BA-01F88ABB2B9F}" type="datetime1">
              <a:rPr lang="pt-BR" smtClean="0"/>
              <a:t>06/05/2024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10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204AE-A260-4415-9FF8-DFB19FD302A0}" type="datetime1">
              <a:rPr lang="pt-BR" smtClean="0"/>
              <a:t>06/05/2024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8F5-1568-47FC-8326-5483CB6FC279}" type="datetime1">
              <a:rPr lang="pt-BR" smtClean="0"/>
              <a:t>06/05/2024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93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474DC-68ED-4362-880B-391B1B63A052}" type="datetime1">
              <a:rPr lang="pt-BR" smtClean="0"/>
              <a:t>06/05/2024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75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6F66-E065-4168-8C52-1865663D80EB}" type="datetime1">
              <a:rPr lang="pt-BR" smtClean="0"/>
              <a:t>06/05/2024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46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D202-8EB1-46B1-9687-6CF59BF1C662}" type="datetime1">
              <a:rPr lang="pt-BR" smtClean="0"/>
              <a:t>06/05/2024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94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24A9-ED2F-4672-A84D-57DC684B31B7}" type="datetime1">
              <a:rPr lang="pt-BR" smtClean="0"/>
              <a:t>06/05/2024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91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EB650-417D-47FE-AFEB-63727FEC5E80}" type="datetime1">
              <a:rPr lang="pt-BR" smtClean="0"/>
              <a:t>06/05/2024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09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C72A-1BE8-4F3D-83EB-B41C0C485BA7}" type="datetime1">
              <a:rPr lang="pt-BR" smtClean="0"/>
              <a:t>06/05/2024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2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8A77A-D0B5-496F-9799-F0D1473DB9AD}" type="datetime1">
              <a:rPr lang="pt-BR" smtClean="0"/>
              <a:t>06/05/2024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17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90817-D0F0-4AC6-BF6D-90202797C3EB}" type="datetime1">
              <a:rPr lang="pt-BR" smtClean="0"/>
              <a:t>06/05/2024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COMANDOS GIT - PRINCIPAIS COMANDOS PARA INICIANTES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92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GiancarloVieira/create-ebook-with-ai.git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C59D0F3-0831-BB4F-5869-4C89A7608B75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091D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3C41"/>
              </a:solidFill>
            </a:endParaRPr>
          </a:p>
        </p:txBody>
      </p:sp>
      <p:sp>
        <p:nvSpPr>
          <p:cNvPr id="14" name="fundo_subtitulo">
            <a:extLst>
              <a:ext uri="{FF2B5EF4-FFF2-40B4-BE49-F238E27FC236}">
                <a16:creationId xmlns:a16="http://schemas.microsoft.com/office/drawing/2014/main" id="{CECE1AD7-AD65-2877-B848-F4A38CF96147}"/>
              </a:ext>
            </a:extLst>
          </p:cNvPr>
          <p:cNvSpPr/>
          <p:nvPr/>
        </p:nvSpPr>
        <p:spPr>
          <a:xfrm>
            <a:off x="0" y="2446960"/>
            <a:ext cx="9601200" cy="83099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7405FB1-0AFE-DF6D-4838-8755D3F2C988}"/>
              </a:ext>
            </a:extLst>
          </p:cNvPr>
          <p:cNvSpPr txBox="1"/>
          <p:nvPr/>
        </p:nvSpPr>
        <p:spPr>
          <a:xfrm>
            <a:off x="789911" y="469862"/>
            <a:ext cx="10124699" cy="1569660"/>
          </a:xfrm>
          <a:prstGeom prst="rect">
            <a:avLst/>
          </a:prstGeom>
          <a:noFill/>
          <a:effectLst>
            <a:glow rad="1092200">
              <a:schemeClr val="accent1">
                <a:alpha val="28000"/>
              </a:schemeClr>
            </a:glow>
            <a:outerShdw blurRad="50800" dist="50800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9600" dirty="0">
                <a:solidFill>
                  <a:schemeClr val="bg1"/>
                </a:solidFill>
                <a:effectLst>
                  <a:glow rad="342900">
                    <a:srgbClr val="00B050"/>
                  </a:glow>
                </a:effectLst>
                <a:latin typeface="8BIT WONDER" panose="00000400000000000000" pitchFamily="2" charset="0"/>
              </a:rPr>
              <a:t>Comandos GIT</a:t>
            </a:r>
          </a:p>
        </p:txBody>
      </p:sp>
      <p:sp>
        <p:nvSpPr>
          <p:cNvPr id="13" name="subtitulo">
            <a:extLst>
              <a:ext uri="{FF2B5EF4-FFF2-40B4-BE49-F238E27FC236}">
                <a16:creationId xmlns:a16="http://schemas.microsoft.com/office/drawing/2014/main" id="{429024B7-8E30-E5DB-74CA-5CCE07B84C5A}"/>
              </a:ext>
            </a:extLst>
          </p:cNvPr>
          <p:cNvSpPr txBox="1"/>
          <p:nvPr/>
        </p:nvSpPr>
        <p:spPr>
          <a:xfrm>
            <a:off x="317289" y="2459578"/>
            <a:ext cx="89666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Impact" panose="020B0806030902050204" pitchFamily="34" charset="0"/>
              </a:rPr>
              <a:t>CONHEÇA OS PRINCIPAIS COMANDOS</a:t>
            </a:r>
          </a:p>
        </p:txBody>
      </p:sp>
      <p:sp>
        <p:nvSpPr>
          <p:cNvPr id="16" name="fundo_rodape">
            <a:extLst>
              <a:ext uri="{FF2B5EF4-FFF2-40B4-BE49-F238E27FC236}">
                <a16:creationId xmlns:a16="http://schemas.microsoft.com/office/drawing/2014/main" id="{8A5EDDAD-04F3-2FDC-9612-B1EBD47701CD}"/>
              </a:ext>
            </a:extLst>
          </p:cNvPr>
          <p:cNvSpPr/>
          <p:nvPr/>
        </p:nvSpPr>
        <p:spPr>
          <a:xfrm>
            <a:off x="1971963" y="11672991"/>
            <a:ext cx="5657273" cy="830997"/>
          </a:xfrm>
          <a:prstGeom prst="rect">
            <a:avLst/>
          </a:prstGeom>
          <a:solidFill>
            <a:srgbClr val="00B05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odape">
            <a:extLst>
              <a:ext uri="{FF2B5EF4-FFF2-40B4-BE49-F238E27FC236}">
                <a16:creationId xmlns:a16="http://schemas.microsoft.com/office/drawing/2014/main" id="{6275A980-272E-6995-30C1-C7DA34BD34F2}"/>
              </a:ext>
            </a:extLst>
          </p:cNvPr>
          <p:cNvSpPr txBox="1"/>
          <p:nvPr/>
        </p:nvSpPr>
        <p:spPr>
          <a:xfrm>
            <a:off x="2268247" y="11672991"/>
            <a:ext cx="5878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rgbClr val="0D0A27"/>
                </a:solidFill>
                <a:latin typeface="Impact" panose="020B0806030902050204" pitchFamily="34" charset="0"/>
              </a:rPr>
              <a:t>GIANCARLO CASTRO</a:t>
            </a:r>
          </a:p>
        </p:txBody>
      </p:sp>
      <p:sp>
        <p:nvSpPr>
          <p:cNvPr id="15" name="subtitulo_componente">
            <a:extLst>
              <a:ext uri="{FF2B5EF4-FFF2-40B4-BE49-F238E27FC236}">
                <a16:creationId xmlns:a16="http://schemas.microsoft.com/office/drawing/2014/main" id="{4AC64B63-F496-F80D-2DF0-D95D155A98DB}"/>
              </a:ext>
            </a:extLst>
          </p:cNvPr>
          <p:cNvSpPr txBox="1"/>
          <p:nvPr/>
        </p:nvSpPr>
        <p:spPr>
          <a:xfrm>
            <a:off x="250420" y="10217501"/>
            <a:ext cx="9100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+mj-lt"/>
              </a:rPr>
              <a:t>Aprenda a usar os principais comandos do GIT para gerenciar seu repositório</a:t>
            </a:r>
          </a:p>
        </p:txBody>
      </p:sp>
      <p:pic>
        <p:nvPicPr>
          <p:cNvPr id="6" name="Picture 5" descr="A black keyboard with green lights&#10;&#10;Description automatically generated">
            <a:extLst>
              <a:ext uri="{FF2B5EF4-FFF2-40B4-BE49-F238E27FC236}">
                <a16:creationId xmlns:a16="http://schemas.microsoft.com/office/drawing/2014/main" id="{BDFB3120-EC7C-DA13-842B-079383BB2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34" y="3365662"/>
            <a:ext cx="6914332" cy="691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999059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</a:t>
            </a:r>
            <a:r>
              <a:rPr lang="pt-BR" sz="2400" dirty="0" err="1"/>
              <a:t>Git</a:t>
            </a:r>
            <a:r>
              <a:rPr lang="pt-BR" sz="2400" dirty="0"/>
              <a:t> é uma ferramenta poderosa para o controle de versão de código-fonte. Perfeito para colaboração em projetos de desenvolvimento de software, ele permite rastrear alterações, experimentar novos recursos e colaborar de forma eficiente. Vamos dar uma olhada nos principais comandos do </a:t>
            </a:r>
            <a:r>
              <a:rPr lang="pt-BR" sz="2400" dirty="0" err="1"/>
              <a:t>Git</a:t>
            </a:r>
            <a:r>
              <a:rPr lang="pt-BR" sz="2400" dirty="0"/>
              <a:t> para você começar a usá-lo com confiança.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124473" y="812451"/>
            <a:ext cx="8241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GUIA ESSENCIAL DO GIT PARA INICIANTES</a:t>
            </a:r>
          </a:p>
        </p:txBody>
      </p:sp>
      <p:sp>
        <p:nvSpPr>
          <p:cNvPr id="4" name="subtitulo_componente">
            <a:extLst>
              <a:ext uri="{FF2B5EF4-FFF2-40B4-BE49-F238E27FC236}">
                <a16:creationId xmlns:a16="http://schemas.microsoft.com/office/drawing/2014/main" id="{25CCF5E4-57B1-4237-190B-AC69C1A6536B}"/>
              </a:ext>
            </a:extLst>
          </p:cNvPr>
          <p:cNvSpPr txBox="1"/>
          <p:nvPr/>
        </p:nvSpPr>
        <p:spPr>
          <a:xfrm>
            <a:off x="870768" y="1961917"/>
            <a:ext cx="7816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+mj-lt"/>
              </a:rPr>
              <a:t>Introdução ao </a:t>
            </a:r>
            <a:r>
              <a:rPr lang="pt-BR" sz="3200" dirty="0" err="1">
                <a:latin typeface="+mj-lt"/>
              </a:rPr>
              <a:t>Git</a:t>
            </a:r>
            <a:r>
              <a:rPr lang="pt-BR" sz="3200" dirty="0">
                <a:latin typeface="+mj-lt"/>
              </a:rPr>
              <a:t>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7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57350">
                <a:srgbClr val="85BCC3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950483A-1B7C-BC8A-AFE0-E5A3B512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  <a:endParaRPr lang="pt-BR" dirty="0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1966F1B7-35CA-277C-5D23-E67A2444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</a:t>
            </a:fld>
            <a:endParaRPr lang="pt-BR"/>
          </a:p>
        </p:txBody>
      </p:sp>
      <p:pic>
        <p:nvPicPr>
          <p:cNvPr id="1026" name="Picture 2" descr="Git - Logo Downloads">
            <a:extLst>
              <a:ext uri="{FF2B5EF4-FFF2-40B4-BE49-F238E27FC236}">
                <a16:creationId xmlns:a16="http://schemas.microsoft.com/office/drawing/2014/main" id="{794750C6-DBC4-54D1-4062-9B1FEC11D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020" y="6099073"/>
            <a:ext cx="3958140" cy="395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00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CONFIGURAÇÃO INICIAL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00B050"/>
                  </a:solidFill>
                </a:ln>
                <a:noFill/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52466">
                <a:schemeClr val="accent6"/>
              </a:gs>
              <a:gs pos="0">
                <a:srgbClr val="00B050"/>
              </a:gs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351BD98C-D072-63C9-21C3-E1219F48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  <a:endParaRPr lang="pt-BR" dirty="0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200A01C-BA5B-3A36-1BF1-0562AE8A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51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Git - Logo Downloads">
            <a:extLst>
              <a:ext uri="{FF2B5EF4-FFF2-40B4-BE49-F238E27FC236}">
                <a16:creationId xmlns:a16="http://schemas.microsoft.com/office/drawing/2014/main" id="{30C6B0F9-83BE-E5F8-E158-B760CE14C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015" y="9986271"/>
            <a:ext cx="1377170" cy="137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822078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Antes de começar, é essencial configurar seu nome de usuário e endereço de e-mail. Isso é importante para identificar suas contribuições nos projetos.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784555" y="832096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CONFIGURAÇÃO INICIAL</a:t>
            </a:r>
          </a:p>
        </p:txBody>
      </p:sp>
      <p:sp>
        <p:nvSpPr>
          <p:cNvPr id="19" name="Espaço Reservado para Rodapé 18">
            <a:extLst>
              <a:ext uri="{FF2B5EF4-FFF2-40B4-BE49-F238E27FC236}">
                <a16:creationId xmlns:a16="http://schemas.microsoft.com/office/drawing/2014/main" id="{106B9400-10F5-C4D9-5FB4-31020CF6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  <a:endParaRPr lang="pt-BR" dirty="0"/>
          </a:p>
        </p:txBody>
      </p:sp>
      <p:sp>
        <p:nvSpPr>
          <p:cNvPr id="20" name="Espaço Reservado para Número de Slide 19">
            <a:extLst>
              <a:ext uri="{FF2B5EF4-FFF2-40B4-BE49-F238E27FC236}">
                <a16:creationId xmlns:a16="http://schemas.microsoft.com/office/drawing/2014/main" id="{919B02F9-1256-559A-957D-87AA95AA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4</a:t>
            </a:fld>
            <a:endParaRPr lang="pt-BR"/>
          </a:p>
        </p:txBody>
      </p:sp>
      <p:sp>
        <p:nvSpPr>
          <p:cNvPr id="4" name="Retângulo 4">
            <a:extLst>
              <a:ext uri="{FF2B5EF4-FFF2-40B4-BE49-F238E27FC236}">
                <a16:creationId xmlns:a16="http://schemas.microsoft.com/office/drawing/2014/main" id="{929BA184-B9E7-FAE6-B395-367E409A2BDF}"/>
              </a:ext>
            </a:extLst>
          </p:cNvPr>
          <p:cNvSpPr/>
          <p:nvPr/>
        </p:nvSpPr>
        <p:spPr>
          <a:xfrm>
            <a:off x="651281" y="-217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57350">
                <a:srgbClr val="85BCC3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A7AE02-E149-6B10-FF3C-043EC38E3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97081" y="4022407"/>
            <a:ext cx="16195361" cy="485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9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INICIAR UM NOVO REPOSITÓRIO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00B050"/>
                  </a:solidFill>
                </a:ln>
                <a:noFill/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90E6D8A5-1A1A-B921-5118-21A6BD3F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D097E9B-2BDA-D42C-D47C-437D8B7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5</a:t>
            </a:fld>
            <a:endParaRPr lang="pt-BR"/>
          </a:p>
        </p:txBody>
      </p:sp>
      <p:sp>
        <p:nvSpPr>
          <p:cNvPr id="7" name="Retângulo 4">
            <a:extLst>
              <a:ext uri="{FF2B5EF4-FFF2-40B4-BE49-F238E27FC236}">
                <a16:creationId xmlns:a16="http://schemas.microsoft.com/office/drawing/2014/main" id="{5E114B5E-E987-C8C1-B7AE-2471E925344B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52466">
                <a:schemeClr val="accent6"/>
              </a:gs>
              <a:gs pos="0">
                <a:srgbClr val="00B050"/>
              </a:gs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04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822078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Para iniciar o controle de versão em um novo projeto, basta navegar até o diretório do projeto e executar: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784555" y="806736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 INICIAR UM NOVO REPOSITÓRIO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798D93-ED72-CD33-880D-2C72AA1C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51B58DE0-4197-A9DA-3C15-1110405E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6</a:t>
            </a:fld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400BC-EE46-70B5-777A-8542ED0E4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89213" y="3568051"/>
            <a:ext cx="20179624" cy="6053887"/>
          </a:xfrm>
          <a:prstGeom prst="rect">
            <a:avLst/>
          </a:prstGeom>
        </p:spPr>
      </p:pic>
      <p:pic>
        <p:nvPicPr>
          <p:cNvPr id="8" name="Picture 2" descr="Git - Logo Downloads">
            <a:extLst>
              <a:ext uri="{FF2B5EF4-FFF2-40B4-BE49-F238E27FC236}">
                <a16:creationId xmlns:a16="http://schemas.microsoft.com/office/drawing/2014/main" id="{B34F35F9-FA3D-8AED-2D8B-01CD734B3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015" y="9979522"/>
            <a:ext cx="1377170" cy="137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4">
            <a:extLst>
              <a:ext uri="{FF2B5EF4-FFF2-40B4-BE49-F238E27FC236}">
                <a16:creationId xmlns:a16="http://schemas.microsoft.com/office/drawing/2014/main" id="{512505F8-37C9-820E-8614-842B3D63E5A4}"/>
              </a:ext>
            </a:extLst>
          </p:cNvPr>
          <p:cNvSpPr/>
          <p:nvPr/>
        </p:nvSpPr>
        <p:spPr>
          <a:xfrm>
            <a:off x="651281" y="-217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57350">
                <a:srgbClr val="85BCC3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467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365760" y="6388320"/>
            <a:ext cx="88779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CLONAR UM REPOSITÓRIO EXISTENTE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00B050"/>
                  </a:solidFill>
                </a:ln>
                <a:noFill/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ED5FF5DA-5CF2-1E22-3C5B-B6117E87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CFFF15F9-9106-7134-AA2D-FD2E7ED9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7</a:t>
            </a:fld>
            <a:endParaRPr lang="pt-BR"/>
          </a:p>
        </p:txBody>
      </p:sp>
      <p:sp>
        <p:nvSpPr>
          <p:cNvPr id="7" name="Retângulo 4">
            <a:extLst>
              <a:ext uri="{FF2B5EF4-FFF2-40B4-BE49-F238E27FC236}">
                <a16:creationId xmlns:a16="http://schemas.microsoft.com/office/drawing/2014/main" id="{F4DD7718-3292-00D1-178C-8892F332FDB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52466">
                <a:schemeClr val="accent6"/>
              </a:gs>
              <a:gs pos="0">
                <a:srgbClr val="00B050"/>
              </a:gs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851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5" y="2506194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Se você deseja colaborar em um projeto existente, pode clonar o repositório para o seu computador: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892276" y="684631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 CLONAR UM REPOSITÓRIO EXISTENTE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6565A60-9FB1-1F97-0762-8DE359BB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30BC083C-9C5F-F316-D781-2502741E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8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4E8A0-7661-70B6-E517-71CC3A57A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6857" y="3199269"/>
            <a:ext cx="13674913" cy="4102474"/>
          </a:xfrm>
          <a:prstGeom prst="rect">
            <a:avLst/>
          </a:prstGeom>
        </p:spPr>
      </p:pic>
      <p:sp>
        <p:nvSpPr>
          <p:cNvPr id="8" name="texto_componente">
            <a:extLst>
              <a:ext uri="{FF2B5EF4-FFF2-40B4-BE49-F238E27FC236}">
                <a16:creationId xmlns:a16="http://schemas.microsoft.com/office/drawing/2014/main" id="{8F5196C3-B751-DE7D-BB5F-3CFCF68E669E}"/>
              </a:ext>
            </a:extLst>
          </p:cNvPr>
          <p:cNvSpPr txBox="1"/>
          <p:nvPr/>
        </p:nvSpPr>
        <p:spPr>
          <a:xfrm>
            <a:off x="892275" y="6671403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Por exemplo: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ED4072-5A12-9AA3-2C39-8F0FEA2E9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4723"/>
            <a:ext cx="9601200" cy="4431323"/>
          </a:xfrm>
          <a:prstGeom prst="rect">
            <a:avLst/>
          </a:prstGeom>
        </p:spPr>
      </p:pic>
      <p:pic>
        <p:nvPicPr>
          <p:cNvPr id="17" name="Picture 2" descr="Git - Logo Downloads">
            <a:extLst>
              <a:ext uri="{FF2B5EF4-FFF2-40B4-BE49-F238E27FC236}">
                <a16:creationId xmlns:a16="http://schemas.microsoft.com/office/drawing/2014/main" id="{D6AF355B-5371-36D8-D737-E5C8F38E0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015" y="9979522"/>
            <a:ext cx="1377170" cy="137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4">
            <a:extLst>
              <a:ext uri="{FF2B5EF4-FFF2-40B4-BE49-F238E27FC236}">
                <a16:creationId xmlns:a16="http://schemas.microsoft.com/office/drawing/2014/main" id="{CFD1C485-4656-41F7-0B67-B21567498AD2}"/>
              </a:ext>
            </a:extLst>
          </p:cNvPr>
          <p:cNvSpPr/>
          <p:nvPr/>
        </p:nvSpPr>
        <p:spPr>
          <a:xfrm>
            <a:off x="651281" y="-217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57350">
                <a:srgbClr val="85BCC3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347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266007" y="6388320"/>
            <a:ext cx="91658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ADICIONAR E CONFIRMAR ALTERAÇÕES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00B050"/>
                  </a:solidFill>
                </a:ln>
                <a:noFill/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CF477FF-E9CE-427E-324B-E4F18DF0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A26FB245-ED35-8115-4128-B27CC5C3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9</a:t>
            </a:fld>
            <a:endParaRPr lang="pt-BR"/>
          </a:p>
        </p:txBody>
      </p:sp>
      <p:sp>
        <p:nvSpPr>
          <p:cNvPr id="7" name="Retângulo 4">
            <a:extLst>
              <a:ext uri="{FF2B5EF4-FFF2-40B4-BE49-F238E27FC236}">
                <a16:creationId xmlns:a16="http://schemas.microsoft.com/office/drawing/2014/main" id="{EC09FCD7-7127-E7EF-F822-EFDE5A3D51E7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52466">
                <a:schemeClr val="accent6"/>
              </a:gs>
              <a:gs pos="0">
                <a:srgbClr val="00B050"/>
              </a:gs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37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2200955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Depois de fazer alterações nos arquivos do seu projeto, você pode adicionar essas alterações ao </a:t>
            </a:r>
            <a:r>
              <a:rPr lang="pt-BR" sz="2400" dirty="0" err="1"/>
              <a:t>Git</a:t>
            </a:r>
            <a:r>
              <a:rPr lang="pt-BR" sz="2400" dirty="0"/>
              <a:t> e confirmá-las com uma mensagem descritiva: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133274" y="777781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ADICIONAR E CONFIRMAR ALTERAÇÕES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68AAFF6A-760E-55AD-CF3D-CC5D88DC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B63FA121-A564-460E-9CA1-4990FBE5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10</a:t>
            </a:fld>
            <a:endParaRPr lang="pt-BR"/>
          </a:p>
        </p:txBody>
      </p:sp>
      <p:sp>
        <p:nvSpPr>
          <p:cNvPr id="4" name="Retângulo 4">
            <a:extLst>
              <a:ext uri="{FF2B5EF4-FFF2-40B4-BE49-F238E27FC236}">
                <a16:creationId xmlns:a16="http://schemas.microsoft.com/office/drawing/2014/main" id="{19F13278-2FD0-9461-EAD0-83AEE9BF3BF5}"/>
              </a:ext>
            </a:extLst>
          </p:cNvPr>
          <p:cNvSpPr/>
          <p:nvPr/>
        </p:nvSpPr>
        <p:spPr>
          <a:xfrm>
            <a:off x="651281" y="-217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57350">
                <a:srgbClr val="85BCC3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4B5F3-CB6B-55E9-B1BE-B57AF6379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879" y="2801119"/>
            <a:ext cx="9601200" cy="4431323"/>
          </a:xfrm>
          <a:prstGeom prst="rect">
            <a:avLst/>
          </a:prstGeom>
        </p:spPr>
      </p:pic>
      <p:sp>
        <p:nvSpPr>
          <p:cNvPr id="9" name="texto_componente">
            <a:extLst>
              <a:ext uri="{FF2B5EF4-FFF2-40B4-BE49-F238E27FC236}">
                <a16:creationId xmlns:a16="http://schemas.microsoft.com/office/drawing/2014/main" id="{D1E164A0-F87E-7F10-33E3-B1D0F57D9870}"/>
              </a:ext>
            </a:extLst>
          </p:cNvPr>
          <p:cNvSpPr txBox="1"/>
          <p:nvPr/>
        </p:nvSpPr>
        <p:spPr>
          <a:xfrm>
            <a:off x="1044676" y="6476467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Por exemplo: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A54CF7-6612-26BD-E3C8-4BEAF236F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9" y="6118414"/>
            <a:ext cx="9601200" cy="4431323"/>
          </a:xfrm>
          <a:prstGeom prst="rect">
            <a:avLst/>
          </a:prstGeom>
        </p:spPr>
      </p:pic>
      <p:pic>
        <p:nvPicPr>
          <p:cNvPr id="16" name="Picture 2" descr="Git - Logo Downloads">
            <a:extLst>
              <a:ext uri="{FF2B5EF4-FFF2-40B4-BE49-F238E27FC236}">
                <a16:creationId xmlns:a16="http://schemas.microsoft.com/office/drawing/2014/main" id="{F92F6F4D-FAD7-9AC3-EC34-8F636B2A5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015" y="9979522"/>
            <a:ext cx="1377170" cy="137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067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latin typeface="Impact" panose="020B0806030902050204" pitchFamily="34" charset="0"/>
              </a:rPr>
              <a:t>RAMIFICAÇÃO E FUSÃO (BRANCHING E MERGING)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00B050"/>
                  </a:solidFill>
                </a:ln>
                <a:noFill/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BDF64E93-9F72-3B13-FC04-1CF9FAD8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D0F6146A-7175-FD15-9D6E-9F3335CC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11</a:t>
            </a:fld>
            <a:endParaRPr lang="pt-BR"/>
          </a:p>
        </p:txBody>
      </p:sp>
      <p:sp>
        <p:nvSpPr>
          <p:cNvPr id="7" name="Retângulo 4">
            <a:extLst>
              <a:ext uri="{FF2B5EF4-FFF2-40B4-BE49-F238E27FC236}">
                <a16:creationId xmlns:a16="http://schemas.microsoft.com/office/drawing/2014/main" id="{17A75CA8-BCF8-93E2-EB6C-6ABC9550A833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52466">
                <a:schemeClr val="accent6"/>
              </a:gs>
              <a:gs pos="0">
                <a:srgbClr val="00B050"/>
              </a:gs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566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1124472" y="1656615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As ramificações permitem que você trabalhe em novos recursos ou correções de bugs sem interferir no código principal. Para criar uma nova ramificação: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401712" y="777781"/>
            <a:ext cx="7816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Impact" panose="020B0806030902050204" pitchFamily="34" charset="0"/>
              </a:rPr>
              <a:t>Ramificação e Fusão (</a:t>
            </a:r>
            <a:r>
              <a:rPr lang="pt-BR" sz="3200" dirty="0" err="1">
                <a:latin typeface="Impact" panose="020B0806030902050204" pitchFamily="34" charset="0"/>
              </a:rPr>
              <a:t>Branching</a:t>
            </a:r>
            <a:r>
              <a:rPr lang="pt-BR" sz="3200" dirty="0">
                <a:latin typeface="Impact" panose="020B0806030902050204" pitchFamily="34" charset="0"/>
              </a:rPr>
              <a:t> e </a:t>
            </a:r>
            <a:r>
              <a:rPr lang="pt-BR" sz="3200" dirty="0" err="1">
                <a:latin typeface="Impact" panose="020B0806030902050204" pitchFamily="34" charset="0"/>
              </a:rPr>
              <a:t>Merging</a:t>
            </a:r>
            <a:r>
              <a:rPr lang="pt-BR" sz="3200" dirty="0">
                <a:latin typeface="Impact" panose="020B0806030902050204" pitchFamily="34" charset="0"/>
              </a:rPr>
              <a:t>)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7492E912-C96D-66DF-60F4-0EC19ACD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6A6DBD76-473B-80B1-4F20-86CD5BF3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12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64862-C3EF-2063-6E56-22DBC5E70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94" y="1805842"/>
            <a:ext cx="9601200" cy="4431323"/>
          </a:xfrm>
          <a:prstGeom prst="rect">
            <a:avLst/>
          </a:prstGeom>
        </p:spPr>
      </p:pic>
      <p:sp>
        <p:nvSpPr>
          <p:cNvPr id="8" name="Retângulo 4">
            <a:extLst>
              <a:ext uri="{FF2B5EF4-FFF2-40B4-BE49-F238E27FC236}">
                <a16:creationId xmlns:a16="http://schemas.microsoft.com/office/drawing/2014/main" id="{A5681765-AB94-AE2E-80E3-9B1463412CE3}"/>
              </a:ext>
            </a:extLst>
          </p:cNvPr>
          <p:cNvSpPr/>
          <p:nvPr/>
        </p:nvSpPr>
        <p:spPr>
          <a:xfrm>
            <a:off x="651281" y="-217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57350">
                <a:srgbClr val="85BCC3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o_componente">
            <a:extLst>
              <a:ext uri="{FF2B5EF4-FFF2-40B4-BE49-F238E27FC236}">
                <a16:creationId xmlns:a16="http://schemas.microsoft.com/office/drawing/2014/main" id="{AE50F990-6F23-6412-489C-0878E045C3C0}"/>
              </a:ext>
            </a:extLst>
          </p:cNvPr>
          <p:cNvSpPr txBox="1"/>
          <p:nvPr/>
        </p:nvSpPr>
        <p:spPr>
          <a:xfrm>
            <a:off x="1124471" y="5108085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Para alternar para uma ramificação específica: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CA293F-2858-9A58-34F3-68B806EAD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93" y="4619853"/>
            <a:ext cx="9601200" cy="4431323"/>
          </a:xfrm>
          <a:prstGeom prst="rect">
            <a:avLst/>
          </a:prstGeom>
        </p:spPr>
      </p:pic>
      <p:sp>
        <p:nvSpPr>
          <p:cNvPr id="16" name="texto_componente">
            <a:extLst>
              <a:ext uri="{FF2B5EF4-FFF2-40B4-BE49-F238E27FC236}">
                <a16:creationId xmlns:a16="http://schemas.microsoft.com/office/drawing/2014/main" id="{9D5D61C2-57F0-10B2-ED34-3E4DB78A5B34}"/>
              </a:ext>
            </a:extLst>
          </p:cNvPr>
          <p:cNvSpPr txBox="1"/>
          <p:nvPr/>
        </p:nvSpPr>
        <p:spPr>
          <a:xfrm>
            <a:off x="1124471" y="8184554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Depois de fazer suas alterações, você pode mesclá-las de volta para a ramificação principal usando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D4FB8B-72CD-6576-9F71-F02B5E271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193" y="8000074"/>
            <a:ext cx="9601200" cy="443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414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8251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SINCRONIZAÇÃO COM REPOSITÓRIO REMOTO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00B050"/>
                  </a:solidFill>
                </a:ln>
                <a:noFill/>
                <a:latin typeface="Impact" panose="020B0806030902050204" pitchFamily="34" charset="0"/>
              </a:rPr>
              <a:t>06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EB9DBB56-D673-BFF1-D219-8798ED46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981968B5-ADB4-7523-F4E9-54DB02B7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13</a:t>
            </a:fld>
            <a:endParaRPr lang="pt-BR"/>
          </a:p>
        </p:txBody>
      </p:sp>
      <p:sp>
        <p:nvSpPr>
          <p:cNvPr id="7" name="Retângulo 4">
            <a:extLst>
              <a:ext uri="{FF2B5EF4-FFF2-40B4-BE49-F238E27FC236}">
                <a16:creationId xmlns:a16="http://schemas.microsoft.com/office/drawing/2014/main" id="{82795EAF-5A5A-8906-5773-15FDDA165505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52466">
                <a:schemeClr val="accent6"/>
              </a:gs>
              <a:gs pos="0">
                <a:srgbClr val="00B050"/>
              </a:gs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7831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822078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Para enviar suas alterações para um repositório remoto, você pode usar: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070274" y="691395"/>
            <a:ext cx="8730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Impact" panose="020B0806030902050204" pitchFamily="34" charset="0"/>
              </a:rPr>
              <a:t>SINCRONIZAÇÃO COM REPOSITÓRIO REMOTO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2A3A121B-C21A-B258-DBB8-7B677BDC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E6B5828F-4648-B570-E408-7CDFB1A4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14</a:t>
            </a:fld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3389AD-6267-A3C6-270F-35D07D5E7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8854"/>
            <a:ext cx="9601200" cy="4431323"/>
          </a:xfrm>
          <a:prstGeom prst="rect">
            <a:avLst/>
          </a:prstGeom>
        </p:spPr>
      </p:pic>
      <p:sp>
        <p:nvSpPr>
          <p:cNvPr id="8" name="texto_componente">
            <a:extLst>
              <a:ext uri="{FF2B5EF4-FFF2-40B4-BE49-F238E27FC236}">
                <a16:creationId xmlns:a16="http://schemas.microsoft.com/office/drawing/2014/main" id="{262326F1-6B1F-6583-DBEA-7838921E1C61}"/>
              </a:ext>
            </a:extLst>
          </p:cNvPr>
          <p:cNvSpPr txBox="1"/>
          <p:nvPr/>
        </p:nvSpPr>
        <p:spPr>
          <a:xfrm>
            <a:off x="788749" y="6214372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Para obter as últimas alterações do repositório remoto: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7A4CB1-0653-AF17-4786-8C9ADF138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91423"/>
            <a:ext cx="9601200" cy="4431323"/>
          </a:xfrm>
          <a:prstGeom prst="rect">
            <a:avLst/>
          </a:prstGeom>
        </p:spPr>
      </p:pic>
      <p:pic>
        <p:nvPicPr>
          <p:cNvPr id="15" name="Picture 2" descr="Git - Logo Downloads">
            <a:extLst>
              <a:ext uri="{FF2B5EF4-FFF2-40B4-BE49-F238E27FC236}">
                <a16:creationId xmlns:a16="http://schemas.microsoft.com/office/drawing/2014/main" id="{2C77EB49-18B0-7281-D480-9788E0FD0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015" y="9979522"/>
            <a:ext cx="1377170" cy="137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tângulo 4">
            <a:extLst>
              <a:ext uri="{FF2B5EF4-FFF2-40B4-BE49-F238E27FC236}">
                <a16:creationId xmlns:a16="http://schemas.microsoft.com/office/drawing/2014/main" id="{AADF49E5-1684-AD6C-83EB-3FB712D47408}"/>
              </a:ext>
            </a:extLst>
          </p:cNvPr>
          <p:cNvSpPr/>
          <p:nvPr/>
        </p:nvSpPr>
        <p:spPr>
          <a:xfrm>
            <a:off x="651281" y="-217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57350">
                <a:srgbClr val="85BCC3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381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822078"/>
            <a:ext cx="78166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Estes são apenas alguns dos comandos mais básicos do </a:t>
            </a:r>
            <a:r>
              <a:rPr lang="pt-BR" sz="2400" dirty="0" err="1"/>
              <a:t>Git</a:t>
            </a:r>
            <a:r>
              <a:rPr lang="pt-BR" sz="2400" dirty="0"/>
              <a:t>, mas eles fornecem uma base sólida para começar a trabalhar com controle de versão em seus projetos. Experimente-os em seu próprio ritmo e explore as capacidades adicionais do </a:t>
            </a:r>
            <a:r>
              <a:rPr lang="pt-BR" sz="2400" dirty="0" err="1"/>
              <a:t>Git</a:t>
            </a:r>
            <a:r>
              <a:rPr lang="pt-BR" sz="2400" dirty="0"/>
              <a:t> à medida que avança em sua jornada de desenvolvimento de software.</a:t>
            </a:r>
          </a:p>
          <a:p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870768" y="777781"/>
            <a:ext cx="8302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Conclusão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27E8568A-3DBF-1290-7BC1-1515B5E7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231E06DB-B92A-2C78-643A-353DBD2F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15</a:t>
            </a:fld>
            <a:endParaRPr lang="pt-BR"/>
          </a:p>
        </p:txBody>
      </p:sp>
      <p:sp>
        <p:nvSpPr>
          <p:cNvPr id="4" name="Retângulo 4">
            <a:extLst>
              <a:ext uri="{FF2B5EF4-FFF2-40B4-BE49-F238E27FC236}">
                <a16:creationId xmlns:a16="http://schemas.microsoft.com/office/drawing/2014/main" id="{E48A81FA-DBCF-A698-110F-57334CAEF9A2}"/>
              </a:ext>
            </a:extLst>
          </p:cNvPr>
          <p:cNvSpPr/>
          <p:nvPr/>
        </p:nvSpPr>
        <p:spPr>
          <a:xfrm>
            <a:off x="651281" y="-217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57350">
                <a:srgbClr val="85BCC3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Git - Logo Downloads">
            <a:extLst>
              <a:ext uri="{FF2B5EF4-FFF2-40B4-BE49-F238E27FC236}">
                <a16:creationId xmlns:a16="http://schemas.microsoft.com/office/drawing/2014/main" id="{CCAAF238-5349-FE3F-B694-6AFBF8639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015" y="9979522"/>
            <a:ext cx="1377170" cy="137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859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Impact" panose="020B0806030902050204" pitchFamily="34" charset="0"/>
              </a:rPr>
              <a:t>A</a:t>
            </a:r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GRADECIMENTOS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15C797C3-6F1E-3AA4-4225-55DBA1A4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7204EBB-9793-B1C1-E210-A22022EF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16</a:t>
            </a:fld>
            <a:endParaRPr lang="pt-BR"/>
          </a:p>
        </p:txBody>
      </p:sp>
      <p:sp>
        <p:nvSpPr>
          <p:cNvPr id="4" name="Retângulo 4">
            <a:extLst>
              <a:ext uri="{FF2B5EF4-FFF2-40B4-BE49-F238E27FC236}">
                <a16:creationId xmlns:a16="http://schemas.microsoft.com/office/drawing/2014/main" id="{1A551730-8C36-0EEF-8F1B-0D0DA2FE4546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52466">
                <a:schemeClr val="accent6"/>
              </a:gs>
              <a:gs pos="0">
                <a:srgbClr val="00B050"/>
              </a:gs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956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822078"/>
            <a:ext cx="781664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Esse Ebook foi gerado por IA, e diagramado por humano.</a:t>
            </a:r>
            <a:br>
              <a:rPr lang="pt-BR" sz="2400" dirty="0"/>
            </a:br>
            <a:r>
              <a:rPr lang="pt-BR" sz="2400" dirty="0"/>
              <a:t>O passo a passo se encontra no meu </a:t>
            </a:r>
            <a:r>
              <a:rPr lang="pt-BR" sz="2400" dirty="0" err="1"/>
              <a:t>Github</a:t>
            </a:r>
            <a:endParaRPr lang="pt-BR" sz="2400" dirty="0"/>
          </a:p>
          <a:p>
            <a:pPr algn="ctr"/>
            <a:r>
              <a:rPr lang="pt-BR" sz="4400" dirty="0"/>
              <a:t>.</a:t>
            </a:r>
            <a:br>
              <a:rPr lang="pt-BR" sz="2400" dirty="0"/>
            </a:br>
            <a:r>
              <a:rPr lang="pt-BR" sz="2400" dirty="0"/>
              <a:t>Esse conteúdo foi gerado com fins didáticos de construção, não foi realizado uma validação cuidadosa humana no conteúdo e pode conter erros gerados por uma IA.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269438" y="777781"/>
            <a:ext cx="8302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OBRIGADO POR LER ATÉ AQUI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4B80E3D0-EEFE-5ED5-3B8A-29C7805C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COMANDOS GIT - PRINCIPAIS COMANDOS PARA INICIANTES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5194B7CE-3343-6082-D5FE-370D98CA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17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00835EE-A170-C4AE-5EE7-9322E1BA6163}"/>
              </a:ext>
            </a:extLst>
          </p:cNvPr>
          <p:cNvSpPr/>
          <p:nvPr/>
        </p:nvSpPr>
        <p:spPr>
          <a:xfrm>
            <a:off x="870768" y="7097501"/>
            <a:ext cx="7562940" cy="646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hlinkClick r:id="rId2"/>
              </a:rPr>
              <a:t>https://github.com/GiancarloVieira/create-ebook-with-ai.git</a:t>
            </a:r>
            <a:endParaRPr lang="pt-BR" b="1" dirty="0"/>
          </a:p>
        </p:txBody>
      </p:sp>
      <p:pic>
        <p:nvPicPr>
          <p:cNvPr id="1026" name="Picture 2" descr="GitHub Logos and Usage · GitHub">
            <a:extLst>
              <a:ext uri="{FF2B5EF4-FFF2-40B4-BE49-F238E27FC236}">
                <a16:creationId xmlns:a16="http://schemas.microsoft.com/office/drawing/2014/main" id="{1EF46656-CC8F-7EC9-456E-5D0A6CD02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953" y="5587726"/>
            <a:ext cx="1676570" cy="167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4">
            <a:extLst>
              <a:ext uri="{FF2B5EF4-FFF2-40B4-BE49-F238E27FC236}">
                <a16:creationId xmlns:a16="http://schemas.microsoft.com/office/drawing/2014/main" id="{2E211F91-76A3-88B3-BEF0-E05146858CFA}"/>
              </a:ext>
            </a:extLst>
          </p:cNvPr>
          <p:cNvSpPr/>
          <p:nvPr/>
        </p:nvSpPr>
        <p:spPr>
          <a:xfrm>
            <a:off x="651281" y="-217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57350">
                <a:srgbClr val="85BCC3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6690F9-E912-4013-EA7E-86539F9AA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" y="8367890"/>
            <a:ext cx="9277350" cy="1771650"/>
          </a:xfrm>
          <a:prstGeom prst="rect">
            <a:avLst/>
          </a:prstGeom>
        </p:spPr>
      </p:pic>
      <p:sp>
        <p:nvSpPr>
          <p:cNvPr id="10" name="texto_componente">
            <a:extLst>
              <a:ext uri="{FF2B5EF4-FFF2-40B4-BE49-F238E27FC236}">
                <a16:creationId xmlns:a16="http://schemas.microsoft.com/office/drawing/2014/main" id="{32CE016D-23CC-8DFF-6915-26DAD56FEB8F}"/>
              </a:ext>
            </a:extLst>
          </p:cNvPr>
          <p:cNvSpPr txBox="1"/>
          <p:nvPr/>
        </p:nvSpPr>
        <p:spPr>
          <a:xfrm>
            <a:off x="870767" y="7780051"/>
            <a:ext cx="7816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920495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563</Words>
  <Application>Microsoft Office PowerPoint</Application>
  <PresentationFormat>A3 Paper (297x420 mm)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8BIT WONDER</vt:lpstr>
      <vt:lpstr>Arial</vt:lpstr>
      <vt:lpstr>Calibri</vt:lpstr>
      <vt:lpstr>Calibri Light</vt:lpstr>
      <vt:lpstr>Impact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Silva Aguiar</dc:creator>
  <cp:lastModifiedBy>Vieira de Castro, Giancarlo</cp:lastModifiedBy>
  <cp:revision>17</cp:revision>
  <dcterms:created xsi:type="dcterms:W3CDTF">2023-06-15T14:34:16Z</dcterms:created>
  <dcterms:modified xsi:type="dcterms:W3CDTF">2024-05-06T18:49:25Z</dcterms:modified>
</cp:coreProperties>
</file>